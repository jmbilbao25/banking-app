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infrastructure design review. We present the current build, then the four platform topics we need input on: high availability, scalability on Kubernetes, observability, and BSP readiness. Final slide is left blank to capture the infra team's feedback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60 seconds. The five numbers prove the thing actually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1-4 work. 5 and 6 are the two we want the infra team's view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flow diagram from the team, corrected to the 300 s the code actually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seven numbers, then stop. Two things to raise: the Service Bus decision, because it is what fixes the two-database gap on the next slide, and the Singapore region, because Azure has no PH region and that needs a legal basis, not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The point is that it works, so the conversation can be about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steps. Land on 7 and 8 — that is the design question for the infra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numbers are the whole slide. We cannot pick RPO/RTO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strongest slide: the manifests exist. The lift is smaller than it looks.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/health line usually lands hardest: we built the probe and never wired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here: we are engineers reading circulars. Present as a mapping to be confirmed, never as a compliance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blank. This is the hands-on part — capture the infrastructure team's feedback, their recommendations, and who owns each follow-up, live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5669280" y="-2377440"/>
            <a:ext cx="4937760" cy="11887200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8321040" y="-2377440"/>
            <a:ext cx="2743200" cy="11887200"/>
          </a:xfrm>
          <a:prstGeom prst="rect">
            <a:avLst/>
          </a:prstGeom>
          <a:solidFill>
            <a:srgbClr val="4E1259"/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4572000" y="-2377440"/>
            <a:ext cx="1737360" cy="11887200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 rot="1200000">
            <a:off x="4279392" y="-2377440"/>
            <a:ext cx="91440" cy="1188720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7844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420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9284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7572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658600" y="50749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37844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6132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4420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0996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9284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7572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658600" y="525780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19556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7844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56132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4420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92708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10996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29284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7572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658600" y="544068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19556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37844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56132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74420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92708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10996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29284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47572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658600" y="562356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19556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37844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56132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4420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2708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10996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29284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47572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658600" y="580644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19556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37844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56132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74420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92708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10996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29284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7572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58600" y="5989320"/>
            <a:ext cx="68580" cy="68580"/>
          </a:xfrm>
          <a:prstGeom prst="ellipse">
            <a:avLst/>
          </a:prstGeom>
          <a:solidFill>
            <a:srgbClr val="C9A227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66928" y="502920"/>
            <a:ext cx="384048" cy="384048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61" name="Shape 59"/>
          <p:cNvSpPr/>
          <p:nvPr/>
        </p:nvSpPr>
        <p:spPr>
          <a:xfrm>
            <a:off x="674461" y="610453"/>
            <a:ext cx="168981" cy="168981"/>
          </a:xfrm>
          <a:prstGeom prst="diamond">
            <a:avLst/>
          </a:prstGeom>
          <a:solidFill>
            <a:srgbClr val="C4D82E"/>
          </a:solidFill>
          <a:ln/>
        </p:spPr>
      </p:sp>
      <p:sp>
        <p:nvSpPr>
          <p:cNvPr id="62" name="Text 60"/>
          <p:cNvSpPr/>
          <p:nvPr/>
        </p:nvSpPr>
        <p:spPr>
          <a:xfrm>
            <a:off x="1008583" y="479877"/>
            <a:ext cx="161300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6B1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66928" y="242316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Payment Platform</a:t>
            </a:r>
            <a:endParaRPr lang="en-US" sz="3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10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Design Review</a:t>
            </a:r>
            <a:endParaRPr lang="en-US" sz="3600" dirty="0"/>
          </a:p>
        </p:txBody>
      </p:sp>
      <p:sp>
        <p:nvSpPr>
          <p:cNvPr id="64" name="Shape 62"/>
          <p:cNvSpPr/>
          <p:nvPr/>
        </p:nvSpPr>
        <p:spPr>
          <a:xfrm>
            <a:off x="566928" y="4041648"/>
            <a:ext cx="914400" cy="54864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65" name="Text 63"/>
          <p:cNvSpPr/>
          <p:nvPr/>
        </p:nvSpPr>
        <p:spPr>
          <a:xfrm>
            <a:off x="566928" y="42611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 group under EastWest ITG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66928" y="4572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 ·  Scalability  ·  Observability  ·  BSP readiness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 rot="20400000">
            <a:off x="7452360" y="11704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50" kern="0" dirty="0">
                <a:solidFill>
                  <a:srgbClr val="C4D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3000" dirty="0"/>
          </a:p>
        </p:txBody>
      </p:sp>
      <p:sp>
        <p:nvSpPr>
          <p:cNvPr id="68" name="Text 66"/>
          <p:cNvSpPr/>
          <p:nvPr/>
        </p:nvSpPr>
        <p:spPr>
          <a:xfrm rot="20400000">
            <a:off x="7882128" y="18836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dream  ·  Our focus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417320"/>
            <a:ext cx="262432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417320"/>
            <a:ext cx="2624328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1581912"/>
            <a:ext cx="274320" cy="274320"/>
          </a:xfrm>
          <a:prstGeom prst="ellipse">
            <a:avLst/>
          </a:prstGeom>
          <a:solidFill>
            <a:srgbClr val="C2007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4984" y="15636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1911096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scans a QR at checkout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from their bank account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order releases on payment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46704" y="1417320"/>
            <a:ext cx="262432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6704" y="1417320"/>
            <a:ext cx="2624328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22" name="Shape 20"/>
          <p:cNvSpPr/>
          <p:nvPr/>
        </p:nvSpPr>
        <p:spPr>
          <a:xfrm>
            <a:off x="3493008" y="1581912"/>
            <a:ext cx="274320" cy="274320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58768" y="15636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11296" y="1911096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Python / Flask services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database each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over REST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0488" y="1417320"/>
            <a:ext cx="262432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4605">
            <a:solidFill>
              <a:srgbClr val="C9A2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0488" y="1417320"/>
            <a:ext cx="2624328" cy="502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6"/>
          <p:cNvSpPr/>
          <p:nvPr/>
        </p:nvSpPr>
        <p:spPr>
          <a:xfrm>
            <a:off x="6336792" y="1581912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6336792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02552" y="15636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runs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1911096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— dev / test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ACI — production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build and deploy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34272" y="1417320"/>
            <a:ext cx="262432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4605">
            <a:solidFill>
              <a:srgbClr val="2E7D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34272" y="1417320"/>
            <a:ext cx="2624328" cy="502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Shape 32"/>
          <p:cNvSpPr/>
          <p:nvPr/>
        </p:nvSpPr>
        <p:spPr>
          <a:xfrm>
            <a:off x="9180576" y="158191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9180576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46336" y="15636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98864" y="1911096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 HA and scaling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direction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 readiness check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3950208"/>
            <a:ext cx="11183112" cy="1572768"/>
          </a:xfrm>
          <a:prstGeom prst="roundRect">
            <a:avLst>
              <a:gd name="adj" fmla="val 3488"/>
            </a:avLst>
          </a:prstGeom>
          <a:solidFill>
            <a:srgbClr val="F6F3F8"/>
          </a:solidFill>
          <a:ln w="12700">
            <a:solidFill>
              <a:srgbClr val="6B1F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end to end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22960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31.00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22960" y="4956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total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80944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1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1,469.00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2980944" y="4956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balance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debit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38928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s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5138928" y="4956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validity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96912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1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7296912" y="4956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status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interval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454896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9454896" y="4956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2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566928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observed from both services executed end to end, not estimated.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 and assumptions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371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— as built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82496"/>
          <a:ext cx="67665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8463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pays a merchant by scanning a QR 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 expires automatically after 5 minutes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QR cannot be paid twice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sees payment without refreshing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releases only after funds actually move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survives losing one instance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571232" y="1371600"/>
            <a:ext cx="41148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71232" y="1371600"/>
            <a:ext cx="4114800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18" name="Text 15"/>
          <p:cNvSpPr/>
          <p:nvPr/>
        </p:nvSpPr>
        <p:spPr>
          <a:xfrm>
            <a:off x="7717536" y="151790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35824" y="1865376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and AWS accounts are lab, not production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volume — no throughput target agreed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stay separately deployable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Kubernetes manifests are the intended runtime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7571232" y="3840480"/>
            <a:ext cx="4114800" cy="1627632"/>
          </a:xfrm>
          <a:prstGeom prst="roundRect">
            <a:avLst>
              <a:gd name="adj" fmla="val 2809"/>
            </a:avLst>
          </a:prstGeom>
          <a:solidFill>
            <a:srgbClr val="FFF9EF"/>
          </a:solidFill>
          <a:ln w="14605">
            <a:solidFill>
              <a:srgbClr val="E07C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71232" y="3840480"/>
            <a:ext cx="4114800" cy="50292"/>
          </a:xfrm>
          <a:prstGeom prst="rect">
            <a:avLst/>
          </a:prstGeom>
          <a:solidFill>
            <a:srgbClr val="E07C00"/>
          </a:solidFill>
          <a:ln/>
        </p:spPr>
      </p:sp>
      <p:sp>
        <p:nvSpPr>
          <p:cNvPr id="22" name="Text 19"/>
          <p:cNvSpPr/>
          <p:nvPr/>
        </p:nvSpPr>
        <p:spPr>
          <a:xfrm>
            <a:off x="7717536" y="39867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assumption is wrong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735824" y="4334256"/>
            <a:ext cx="37856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→ production changes urgency, not the plan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volume target changes all sizing here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ITG cluster changes the Kubernetes plan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502920" y="4242816"/>
            <a:ext cx="6766560" cy="1225296"/>
          </a:xfrm>
          <a:prstGeom prst="roundRect">
            <a:avLst>
              <a:gd name="adj" fmla="val 4478"/>
            </a:avLst>
          </a:prstGeom>
          <a:solidFill>
            <a:srgbClr val="FDECEC"/>
          </a:solidFill>
          <a:ln w="13970">
            <a:solidFill>
              <a:srgbClr val="C628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" y="4352544"/>
            <a:ext cx="64373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functional gap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merchant order is marked paid before the money moves. Two databases commit one after the other, so a failure between them leaves an order paid with no matching debit.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53619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6B1F7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536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72768" y="153619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Checkout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+ total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02736" y="153619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QR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5 minutes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32704" y="153619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2704" y="153619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1389888"/>
            <a:ext cx="1463040" cy="749808"/>
          </a:xfrm>
          <a:prstGeom prst="diamond">
            <a:avLst/>
          </a:prstGeom>
          <a:solidFill>
            <a:srgbClr val="E07C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2068" y="1431036"/>
            <a:ext cx="1380744" cy="667512"/>
          </a:xfrm>
          <a:prstGeom prst="diamond">
            <a:avLst/>
          </a:prstGeom>
          <a:solidFill>
            <a:srgbClr val="FFF6E5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1599834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valid?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25880" y="1764792"/>
            <a:ext cx="246888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55848" y="1764792"/>
            <a:ext cx="246888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85816" y="1764792"/>
            <a:ext cx="246888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0024" y="1764792"/>
            <a:ext cx="310896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23960" y="1764792"/>
            <a:ext cx="777240" cy="0"/>
          </a:xfrm>
          <a:prstGeom prst="line">
            <a:avLst/>
          </a:prstGeom>
          <a:noFill/>
          <a:ln w="1397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88552" y="1481328"/>
            <a:ext cx="402336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88552" y="14813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601200" y="153619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3970">
            <a:solidFill>
              <a:srgbClr val="C62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store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new QR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92440" y="2139696"/>
            <a:ext cx="0" cy="512064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56448" y="2249424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22494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7360920" y="2651760"/>
            <a:ext cx="1463040" cy="749808"/>
          </a:xfrm>
          <a:prstGeom prst="diamond">
            <a:avLst/>
          </a:prstGeom>
          <a:solidFill>
            <a:srgbClr val="2E7D32"/>
          </a:solidFill>
          <a:ln/>
        </p:spPr>
      </p:sp>
      <p:sp>
        <p:nvSpPr>
          <p:cNvPr id="38" name="Shape 36"/>
          <p:cNvSpPr/>
          <p:nvPr/>
        </p:nvSpPr>
        <p:spPr>
          <a:xfrm>
            <a:off x="7402068" y="2692908"/>
            <a:ext cx="1380744" cy="667512"/>
          </a:xfrm>
          <a:prstGeom prst="diamond">
            <a:avLst/>
          </a:prstGeom>
          <a:solidFill>
            <a:srgbClr val="EFF8F0"/>
          </a:solidFill>
          <a:ln/>
        </p:spPr>
      </p:sp>
      <p:sp>
        <p:nvSpPr>
          <p:cNvPr id="39" name="Text 37"/>
          <p:cNvSpPr/>
          <p:nvPr/>
        </p:nvSpPr>
        <p:spPr>
          <a:xfrm>
            <a:off x="7360920" y="2861706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in?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2798064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798064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Details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+ total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flipH="1">
            <a:off x="6766560" y="2980944"/>
            <a:ext cx="59436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858000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25786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9052560" y="279806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52560" y="2798064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823960" y="3026664"/>
            <a:ext cx="22860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796528" y="2542032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96528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LOGGED IN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9829800" y="3255264"/>
            <a:ext cx="0" cy="347472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 flipH="1">
            <a:off x="6309360" y="3602736"/>
            <a:ext cx="352044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 flipV="1">
            <a:off x="6309360" y="3255264"/>
            <a:ext cx="0" cy="347472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486400" y="3255264"/>
            <a:ext cx="0" cy="566928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 flipH="1">
            <a:off x="4709160" y="3822192"/>
            <a:ext cx="777240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4709160" y="3822192"/>
            <a:ext cx="0" cy="292608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486400" y="3822192"/>
            <a:ext cx="1325880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6812280" y="3822192"/>
            <a:ext cx="0" cy="292608"/>
          </a:xfrm>
          <a:prstGeom prst="line">
            <a:avLst/>
          </a:prstGeom>
          <a:noFill/>
          <a:ln w="13970">
            <a:solidFill>
              <a:srgbClr val="E07C00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931920" y="41148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0" y="411480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09160" y="4553712"/>
            <a:ext cx="0" cy="246888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931920" y="48006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31920" y="480060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Payment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9160" y="5239512"/>
            <a:ext cx="0" cy="246888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931920" y="54864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0" y="548640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35040" y="41148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FFF6E5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35040" y="411480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12280" y="4553712"/>
            <a:ext cx="0" cy="246888"/>
          </a:xfrm>
          <a:prstGeom prst="line">
            <a:avLst/>
          </a:prstGeom>
          <a:noFill/>
          <a:ln w="13970">
            <a:solidFill>
              <a:srgbClr val="E07C00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035040" y="48006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FFF6E5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35040" y="480060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amount deducted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812280" y="5239512"/>
            <a:ext cx="0" cy="246888"/>
          </a:xfrm>
          <a:prstGeom prst="line">
            <a:avLst/>
          </a:prstGeom>
          <a:noFill/>
          <a:ln w="13970">
            <a:solidFill>
              <a:srgbClr val="E07C00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035040" y="54864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FFF6E5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0" y="548640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screen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229600" y="4114800"/>
            <a:ext cx="3456432" cy="1810512"/>
          </a:xfrm>
          <a:prstGeom prst="roundRect">
            <a:avLst>
              <a:gd name="adj" fmla="val 2525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4114800"/>
            <a:ext cx="3456432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76" name="Text 74"/>
          <p:cNvSpPr/>
          <p:nvPr/>
        </p:nvSpPr>
        <p:spPr>
          <a:xfrm>
            <a:off x="8375904" y="426110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in the flow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394192" y="4608576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— 300 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use per order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 re-check before debit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check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02920" y="60350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reviewed against the code: QR validity is 300 seconds (5 minutes).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 — hub and spoke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8961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region, one hub, four spokes. No workload endpoint reachable from the internet.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120700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64795" y="1316736"/>
            <a:ext cx="6169658" cy="462686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pic>
        <p:nvPicPr>
          <p:cNvPr id="16" name="Image 0" descr="/projects/sandbox/Banking-App/docs/architecture/excalidraw/preview/05-network-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83" y="1335024"/>
            <a:ext cx="6133082" cy="45902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1335024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banking payment, phone to database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1664208"/>
            <a:ext cx="237744" cy="237744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19" name="Text 16"/>
          <p:cNvSpPr/>
          <p:nvPr/>
        </p:nvSpPr>
        <p:spPr>
          <a:xfrm>
            <a:off x="7360920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680960" y="16459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Premium</a:t>
            </a:r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TLS ends here; WAF; the only way in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60920" y="1970532"/>
            <a:ext cx="237744" cy="237744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2" name="Text 19"/>
          <p:cNvSpPr/>
          <p:nvPr/>
        </p:nvSpPr>
        <p:spPr>
          <a:xfrm>
            <a:off x="7360920" y="19705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680960" y="19522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Gateway WAF v2</a:t>
            </a:r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internal — the Private Link origin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60920" y="2276856"/>
            <a:ext cx="237744" cy="237744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5" name="Text 22"/>
          <p:cNvSpPr/>
          <p:nvPr/>
        </p:nvSpPr>
        <p:spPr>
          <a:xfrm>
            <a:off x="7360920" y="2276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680960" y="22585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Management Premium</a:t>
            </a:r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checks the sign-in token first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360920" y="2583180"/>
            <a:ext cx="237744" cy="237744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8" name="Text 25"/>
          <p:cNvSpPr/>
          <p:nvPr/>
        </p:nvSpPr>
        <p:spPr>
          <a:xfrm>
            <a:off x="7360920" y="25831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680960" y="25648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private cluster</a:t>
            </a:r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banking app; no public API server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360920" y="2889504"/>
            <a:ext cx="237744" cy="237744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31" name="Text 28"/>
          <p:cNvSpPr/>
          <p:nvPr/>
        </p:nvSpPr>
        <p:spPr>
          <a:xfrm>
            <a:off x="7360920" y="2889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80960" y="28712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Firewall Premium</a:t>
            </a:r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inspects everything outbound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360920" y="3195828"/>
            <a:ext cx="237744" cy="237744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34" name="Text 31"/>
          <p:cNvSpPr/>
          <p:nvPr/>
        </p:nvSpPr>
        <p:spPr>
          <a:xfrm>
            <a:off x="7360920" y="31958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680960" y="31775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endpoint</a:t>
            </a:r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reaches bankdb only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360920" y="3502152"/>
            <a:ext cx="237744" cy="237744"/>
          </a:xfrm>
          <a:prstGeom prst="ellipse">
            <a:avLst/>
          </a:prstGeom>
          <a:solidFill>
            <a:srgbClr val="C2007B"/>
          </a:solidFill>
          <a:ln/>
        </p:spPr>
      </p:sp>
      <p:sp>
        <p:nvSpPr>
          <p:cNvPr id="37" name="Text 34"/>
          <p:cNvSpPr/>
          <p:nvPr/>
        </p:nvSpPr>
        <p:spPr>
          <a:xfrm>
            <a:off x="7360920" y="3502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680960" y="34838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bankdb</a:t>
            </a:r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accounts, ledger, transactions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360920" y="3895344"/>
            <a:ext cx="4325112" cy="1225296"/>
          </a:xfrm>
          <a:prstGeom prst="roundRect">
            <a:avLst>
              <a:gd name="adj" fmla="val 3731"/>
            </a:avLst>
          </a:prstGeom>
          <a:solidFill>
            <a:srgbClr val="F6F3F8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360920" y="3895344"/>
            <a:ext cx="4325112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41" name="Text 38"/>
          <p:cNvSpPr/>
          <p:nvPr/>
        </p:nvSpPr>
        <p:spPr>
          <a:xfrm>
            <a:off x="7507224" y="4041648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shape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525512" y="4389120"/>
            <a:ext cx="3995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Spokes peer with the hub only — apps cannot reach each other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 is the only link between the apps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 over ExpressRoute, never the internet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360920" y="5230368"/>
            <a:ext cx="4325112" cy="694944"/>
          </a:xfrm>
          <a:prstGeom prst="roundRect">
            <a:avLst>
              <a:gd name="adj" fmla="val 6579"/>
            </a:avLst>
          </a:prstGeom>
          <a:solidFill>
            <a:srgbClr val="FFF9EF"/>
          </a:solidFill>
          <a:ln w="14605">
            <a:solidFill>
              <a:srgbClr val="E07C0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60920" y="5230368"/>
            <a:ext cx="4325112" cy="50292"/>
          </a:xfrm>
          <a:prstGeom prst="rect">
            <a:avLst/>
          </a:prstGeom>
          <a:solidFill>
            <a:srgbClr val="E07C00"/>
          </a:solidFill>
          <a:ln/>
        </p:spPr>
      </p:sp>
      <p:sp>
        <p:nvSpPr>
          <p:cNvPr id="45" name="Text 42"/>
          <p:cNvSpPr/>
          <p:nvPr/>
        </p:nvSpPr>
        <p:spPr>
          <a:xfrm>
            <a:off x="7507224" y="5376672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with the infra team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7525512" y="5724144"/>
            <a:ext cx="39959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region — cross-border basis and BSP notice required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application, running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371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catalogue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1664208"/>
            <a:ext cx="3602736" cy="2630147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pic>
        <p:nvPicPr>
          <p:cNvPr id="16" name="Image 0" descr="/projects/sandbox/deckbuild/shots_trimmed/01-ecom-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3566160" cy="259357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215384" y="1371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presented at checkout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97096" y="1664208"/>
            <a:ext cx="3602736" cy="3692117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pic>
        <p:nvPicPr>
          <p:cNvPr id="19" name="Image 1" descr="/projects/sandbox/deckbuild/shots_trimmed/03-ecom-checkout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1682496"/>
            <a:ext cx="3566160" cy="365554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927848" y="1371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Authorising in the bank app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909560" y="1664208"/>
            <a:ext cx="3602736" cy="255555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pic>
        <p:nvPicPr>
          <p:cNvPr id="22" name="Image 2" descr="/projects/sandbox/deckbuild/shots_trimmed/05-bank-pay-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1682496"/>
            <a:ext cx="3566160" cy="251897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2920" y="594360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captures from both services running end to end. Images are placed at their true aspect ratio.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payment moves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" y="1389888"/>
            <a:ext cx="18653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65376" y="177393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017520" y="1389888"/>
            <a:ext cx="1865376" cy="365760"/>
          </a:xfrm>
          <a:prstGeom prst="roundRect">
            <a:avLst>
              <a:gd name="adj" fmla="val 125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app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50208" y="177393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102352" y="1389888"/>
            <a:ext cx="18653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DB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77393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87184" y="1389888"/>
            <a:ext cx="1865376" cy="365760"/>
          </a:xfrm>
          <a:prstGeom prst="roundRect">
            <a:avLst>
              <a:gd name="adj" fmla="val 125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app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19872" y="177393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272016" y="1389888"/>
            <a:ext cx="18653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DB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204704" y="177393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39312" y="4187952"/>
            <a:ext cx="6876288" cy="1371600"/>
          </a:xfrm>
          <a:prstGeom prst="roundRect">
            <a:avLst>
              <a:gd name="adj" fmla="val 3333"/>
            </a:avLst>
          </a:prstGeom>
          <a:solidFill>
            <a:srgbClr val="FDECEC">
              <a:alpha val="45000"/>
            </a:srgbClr>
          </a:solidFill>
          <a:ln w="13970">
            <a:solidFill>
              <a:srgbClr val="C6282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865376" y="2212848"/>
            <a:ext cx="2084832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719072" y="1929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90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— create order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50208" y="2596896"/>
            <a:ext cx="2084832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803904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90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order · PENDING · 300 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H="1">
            <a:off x="1865376" y="2980944"/>
            <a:ext cx="2084832" cy="0"/>
          </a:xfrm>
          <a:prstGeom prst="line">
            <a:avLst/>
          </a:prstGeom>
          <a:noFill/>
          <a:ln w="14605">
            <a:solidFill>
              <a:srgbClr val="6B6B6B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719072" y="26974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QR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65376" y="3364992"/>
            <a:ext cx="6254496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865376" y="3081528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ctr" indent="0" marL="0">
              <a:buNone/>
            </a:pPr>
            <a:r>
              <a:rPr lang="en-US" sz="90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QR, log in, confirm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H="1">
            <a:off x="3950208" y="3749040"/>
            <a:ext cx="4169664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950208" y="346557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algn="ctr" indent="0" marL="0">
              <a:buNone/>
            </a:pPr>
            <a:r>
              <a:rPr lang="en-US" sz="90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order is still payable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flipH="1">
            <a:off x="3950208" y="4133088"/>
            <a:ext cx="4169664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950208" y="3849624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algn="ctr" indent="0" marL="0">
              <a:buNone/>
            </a:pPr>
            <a:r>
              <a:rPr lang="en-US" sz="90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merchant it is paid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50208" y="4517136"/>
            <a:ext cx="2084832" cy="0"/>
          </a:xfrm>
          <a:prstGeom prst="line">
            <a:avLst/>
          </a:prstGeom>
          <a:noFill/>
          <a:ln w="19050">
            <a:solidFill>
              <a:srgbClr val="C2007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3803904" y="4233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algn="ctr" indent="0" marL="0">
              <a:buNone/>
            </a:pPr>
            <a:r>
              <a:rPr lang="en-US" sz="900" b="1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1 — order PAID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19872" y="4901184"/>
            <a:ext cx="2084832" cy="0"/>
          </a:xfrm>
          <a:prstGeom prst="line">
            <a:avLst/>
          </a:prstGeom>
          <a:noFill/>
          <a:ln w="19050">
            <a:solidFill>
              <a:srgbClr val="C2007B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973568" y="4617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</a:t>
            </a:r>
            <a:pPr algn="ctr" indent="0" marL="0">
              <a:buNone/>
            </a:pPr>
            <a:r>
              <a:rPr lang="en-US" sz="900" b="1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2 — money moves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 flipH="1">
            <a:off x="1865376" y="5285232"/>
            <a:ext cx="6254496" cy="0"/>
          </a:xfrm>
          <a:prstGeom prst="line">
            <a:avLst/>
          </a:prstGeom>
          <a:noFill/>
          <a:ln w="14605">
            <a:solidFill>
              <a:srgbClr val="6B6B6B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865376" y="5001768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</a:t>
            </a:r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" y="56144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7 and 8
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commits, two databases, nothing joining them. This is the gap.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 OF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29200"/>
                <a:gridCol w="47823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think it should 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Nginx container, no failover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gateway, health-probed backend pool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containers, but no load balancer in front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 replicas actually load balanced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node, no replica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Zone-redundant managed instance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configured, no restore ever tested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backup, PITR, rehearsed restore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then recreate — outage every release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 update, gated on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9436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94360" y="4773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 with a redundant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taking traffic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24612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3246120" y="4773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releases cause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planned outage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978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5897880" y="4773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and RTO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agreed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503920" y="4078224"/>
            <a:ext cx="3182112" cy="1810512"/>
          </a:xfrm>
          <a:prstGeom prst="roundRect">
            <a:avLst>
              <a:gd name="adj" fmla="val 2525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4078224"/>
            <a:ext cx="3182112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23" name="Text 20"/>
          <p:cNvSpPr/>
          <p:nvPr/>
        </p:nvSpPr>
        <p:spPr>
          <a:xfrm>
            <a:off x="8650224" y="422452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infra team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68512" y="4572000"/>
            <a:ext cx="2852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availability target applies here?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RPO and RTO do we design to?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gateway pattern in ITG?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 OF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on Kubernetes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3716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Azure Container Instances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1682496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FDECEC"/>
          </a:solidFill>
          <a:ln w="1397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86537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865376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FQDN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container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31720" y="186537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1865376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0" y="186537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865376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2414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 balancer  ·  no autoscaling  ·  fixed count  ·  recreate to deploy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91072" y="13716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— AKS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91072" y="1682496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865376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865376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WAF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26680" y="1865376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865376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961120" y="186537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1865376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2→N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332720" y="186537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0" y="1865376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DB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589520" y="2093976"/>
            <a:ext cx="13716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23960" y="2093976"/>
            <a:ext cx="13716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95560" y="2093976"/>
            <a:ext cx="13716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492240" y="2414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Pod Autoscaler  ·  cluster autoscaler  ·  rolling updates  ·  probes enforced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218688"/>
            <a:ext cx="3584448" cy="2286000"/>
          </a:xfrm>
          <a:prstGeom prst="roundRect">
            <a:avLst>
              <a:gd name="adj" fmla="val 2000"/>
            </a:avLst>
          </a:prstGeom>
          <a:solidFill>
            <a:srgbClr val="F4FBF5"/>
          </a:solidFill>
          <a:ln w="14605">
            <a:solidFill>
              <a:srgbClr val="2E7D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218688"/>
            <a:ext cx="3584448" cy="502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" y="33649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done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7512" y="3712464"/>
            <a:ext cx="3255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Service and Secret manifests written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and readiness probes defined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is all environment variables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request handling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06824" y="3218688"/>
            <a:ext cx="3584448" cy="2286000"/>
          </a:xfrm>
          <a:prstGeom prst="roundRect">
            <a:avLst>
              <a:gd name="adj" fmla="val 2000"/>
            </a:avLst>
          </a:prstGeom>
          <a:solidFill>
            <a:srgbClr val="FFF9EF"/>
          </a:solidFill>
          <a:ln w="14605">
            <a:solidFill>
              <a:srgbClr val="E07C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06824" y="3218688"/>
            <a:ext cx="3584448" cy="50292"/>
          </a:xfrm>
          <a:prstGeom prst="rect">
            <a:avLst/>
          </a:prstGeom>
          <a:solidFill>
            <a:srgbClr val="E07C00"/>
          </a:solidFill>
          <a:ln/>
        </p:spPr>
      </p:sp>
      <p:sp>
        <p:nvSpPr>
          <p:cNvPr id="43" name="Text 41"/>
          <p:cNvSpPr/>
          <p:nvPr/>
        </p:nvSpPr>
        <p:spPr>
          <a:xfrm>
            <a:off x="4453128" y="33649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to fix first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471416" y="3712464"/>
            <a:ext cx="3255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 is per-instance — externalise it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type is LoadBalancer — should be ClusterIP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are plaintext in the manifest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connection pooling for the database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10728" y="3218688"/>
            <a:ext cx="3575304" cy="2286000"/>
          </a:xfrm>
          <a:prstGeom prst="roundRect">
            <a:avLst>
              <a:gd name="adj" fmla="val 2000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10728" y="3218688"/>
            <a:ext cx="3575304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47" name="Text 45"/>
          <p:cNvSpPr/>
          <p:nvPr/>
        </p:nvSpPr>
        <p:spPr>
          <a:xfrm>
            <a:off x="8257032" y="336499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infra team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275320" y="3712464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or Container Apps for this workload?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shared ITG cluster we join?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scales it — CPU, or requests per second?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manifests after handover?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 OF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389888"/>
            <a:ext cx="36118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5240">
            <a:solidFill>
              <a:srgbClr val="6B1F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89888"/>
            <a:ext cx="3611880" cy="548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15361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" y="193852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19385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72184" y="19019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 to stdout, lost on redeploy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" y="248716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24871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72184" y="24505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Insights → Log Analytics, structured JSON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88536" y="1389888"/>
            <a:ext cx="36118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5240">
            <a:solidFill>
              <a:srgbClr val="C200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88536" y="1389888"/>
            <a:ext cx="3611880" cy="54864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25" name="Text 23"/>
          <p:cNvSpPr/>
          <p:nvPr/>
        </p:nvSpPr>
        <p:spPr>
          <a:xfrm>
            <a:off x="4453128" y="15361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53128" y="193852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4453128" y="19385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800" y="19019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collected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53128" y="248716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4453128" y="24871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24505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Monitor, workload dashboards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74152" y="1389888"/>
            <a:ext cx="36118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74152" y="1389888"/>
            <a:ext cx="36118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8238744" y="15361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38744" y="193852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8238744" y="19385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043416" y="19019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correlation ID between services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38744" y="248716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8238744" y="24871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043416" y="24505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→ App Insights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3547872"/>
            <a:ext cx="7086600" cy="2176272"/>
          </a:xfrm>
          <a:prstGeom prst="roundRect">
            <a:avLst>
              <a:gd name="adj" fmla="val 2521"/>
            </a:avLst>
          </a:prstGeom>
          <a:solidFill>
            <a:srgbClr val="FFF9EF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694176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costs us today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" y="4041648"/>
            <a:ext cx="6675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payment is discovered by the customer, not by us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incident cannot be reconstructed after the fact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exists — but nothing is configured to call it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dashboard, no alert, no on-call signal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82128" y="3547872"/>
            <a:ext cx="3803904" cy="2176272"/>
          </a:xfrm>
          <a:prstGeom prst="roundRect">
            <a:avLst>
              <a:gd name="adj" fmla="val 2101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82128" y="3547872"/>
            <a:ext cx="3803904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46" name="Text 44"/>
          <p:cNvSpPr/>
          <p:nvPr/>
        </p:nvSpPr>
        <p:spPr>
          <a:xfrm>
            <a:off x="8028432" y="369417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infra team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0" y="4041648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ITG logging stack for us to use?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or Dynatrace?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receives the alerts?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 OF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 readiness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1118311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846320"/>
                <a:gridCol w="46451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we stand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1055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 Ph — EMVCo standard, signed payload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met — our QR is a plain URL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1198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onboarding, settlement, disputes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met — no KYC or settlement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MORB App. 75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 in transit and at rest, key management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met — HTTP throughout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1140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outsourcing, exit plan, BCP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E0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— no exit or BCP yet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 10173 (DPA)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Lawful basis for cross-border data transfer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E0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— data sits in centralindia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 9160 (AMLA)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and suspicious transaction reporting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met — no reporting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4151376"/>
            <a:ext cx="5486400" cy="1627632"/>
          </a:xfrm>
          <a:prstGeom prst="roundRect">
            <a:avLst>
              <a:gd name="adj" fmla="val 2809"/>
            </a:avLst>
          </a:prstGeom>
          <a:solidFill>
            <a:srgbClr val="FFF9EF"/>
          </a:solidFill>
          <a:ln w="14605">
            <a:solidFill>
              <a:srgbClr val="E07C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4151376"/>
            <a:ext cx="5486400" cy="50292"/>
          </a:xfrm>
          <a:prstGeom prst="rect">
            <a:avLst/>
          </a:prstGeom>
          <a:solidFill>
            <a:srgbClr val="E07C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" y="4297680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that need a decision, not code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" y="4645152"/>
            <a:ext cx="51572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data — Azure has no PH region, so a transfer basis is required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under Circular 1198 may apply before any launch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208776" y="4151376"/>
            <a:ext cx="5477256" cy="1627632"/>
          </a:xfrm>
          <a:prstGeom prst="roundRect">
            <a:avLst>
              <a:gd name="adj" fmla="val 2809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08776" y="4151376"/>
            <a:ext cx="5477256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4297680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infra team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73368" y="4645152"/>
            <a:ext cx="5148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QR Ph conformance work?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an existing ITG cross-border transfer basis we inherit?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controls does ITG already provide centrally?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502920" y="592531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Engineering-side mapping only, not a legal opinion. Every citation to be confirmed with Compliance and Legal.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64808"/>
            <a:ext cx="274320" cy="27432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9730" y="6541618"/>
            <a:ext cx="120701" cy="120701"/>
          </a:xfrm>
          <a:prstGeom prst="diamond">
            <a:avLst/>
          </a:prstGeom>
          <a:solidFill>
            <a:srgbClr val="C2007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6448349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6419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  ·  EastWest ITG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and recommendations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8961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filled in with the Infrastructure team during this session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120700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572768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6510">
            <a:solidFill>
              <a:srgbClr val="C200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572768"/>
            <a:ext cx="3611880" cy="54864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7373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" y="230428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" y="272491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314553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" y="3566160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398678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440740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" y="482803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524865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8536" y="1572768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6510">
            <a:solidFill>
              <a:srgbClr val="6B1F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88536" y="1572768"/>
            <a:ext cx="3611880" cy="548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28" name="Text 26"/>
          <p:cNvSpPr/>
          <p:nvPr/>
        </p:nvSpPr>
        <p:spPr>
          <a:xfrm>
            <a:off x="4471416" y="17373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07992" y="230428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272491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7992" y="314553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07992" y="3566160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7992" y="398678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440740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07992" y="482803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7992" y="524865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4152" y="1572768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74152" y="1572768"/>
            <a:ext cx="36118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8257032" y="17373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 ·  owner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93608" y="230428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93608" y="272491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93608" y="314553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93608" y="3566160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93608" y="398678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93608" y="440740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93608" y="482803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93608" y="524865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EastWest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Payment Platform — Infrastructure Design Review</dc:title>
  <dc:subject>PptxGenJS Presentation</dc:subject>
  <dc:creator>TechStart — EastWest ITG</dc:creator>
  <cp:lastModifiedBy>TechStart — EastWest ITG</cp:lastModifiedBy>
  <cp:revision>1</cp:revision>
  <dcterms:created xsi:type="dcterms:W3CDTF">2026-08-19T02:46:30Z</dcterms:created>
  <dcterms:modified xsi:type="dcterms:W3CDTF">2026-08-19T02:46:30Z</dcterms:modified>
</cp:coreProperties>
</file>