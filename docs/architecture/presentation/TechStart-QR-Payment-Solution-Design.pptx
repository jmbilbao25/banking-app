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design for a QR payment capability. The merchant channel generates the QR, the banking channel scans and authorises it, and the core banking system performs the posting. Four platform topics follow: availability, scalability, observability and regulatory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The design principle line is the important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requirement 1 to 3 as one sentence: the merchant generates, the bank scans, and the core banking system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 1 and 6 are the two to confirm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outcomes: confirm posts to T24, cancel deducts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rows. Note the only lane that touches money is T24, on row four. Solid arrows are requests, dashed are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zones, one link. The channels never talk to T24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VPN: redundant tunnels, and the AKS API server is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 — show that the journey works, then move to the platform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steps. Land on step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numbers are the ask for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manifests already exist, which shortens the path to a managed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as: a single payment can be followed across all four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a mapping for discussion, never as a compliance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the infrastructure team's input here during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ojects/sandbox/Banking-App/docs/LinkedInBanner_Revised 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047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657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Payment Platform</a:t>
            </a:r>
            <a:endParaRPr lang="en-US" sz="3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10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66928" y="5029200"/>
            <a:ext cx="914400" cy="54864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5248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TechStart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55412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QR generation  ·  Bank-side scanning and authorisation  ·  Posting in the core banking system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10" name="Image 1" descr="/projects/sandbox/deckbuild/assets/eastwes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13" name="Text 9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463040"/>
            <a:ext cx="262432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4605">
            <a:solidFill>
              <a:srgbClr val="3B6F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1463040"/>
            <a:ext cx="2624328" cy="50292"/>
          </a:xfrm>
          <a:prstGeom prst="rect">
            <a:avLst/>
          </a:prstGeom>
          <a:solidFill>
            <a:srgbClr val="3B6F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" y="1627632"/>
            <a:ext cx="274320" cy="274320"/>
          </a:xfrm>
          <a:prstGeom prst="ellipse">
            <a:avLst/>
          </a:prstGeom>
          <a:solidFill>
            <a:srgbClr val="3B6FD4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14984" y="16093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channel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" y="1956816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checks out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created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is generated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46704" y="1463040"/>
            <a:ext cx="262432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46704" y="1463040"/>
            <a:ext cx="2624328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0" name="Shape 17"/>
          <p:cNvSpPr/>
          <p:nvPr/>
        </p:nvSpPr>
        <p:spPr>
          <a:xfrm>
            <a:off x="3493008" y="1627632"/>
            <a:ext cx="274320" cy="274320"/>
          </a:xfrm>
          <a:prstGeom prst="ellipse">
            <a:avLst/>
          </a:prstGeom>
          <a:solidFill>
            <a:srgbClr val="C2007B"/>
          </a:solidFill>
          <a:ln/>
        </p:spPr>
      </p:sp>
      <p:sp>
        <p:nvSpPr>
          <p:cNvPr id="21" name="Text 18"/>
          <p:cNvSpPr/>
          <p:nvPr/>
        </p:nvSpPr>
        <p:spPr>
          <a:xfrm>
            <a:off x="3493008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58768" y="16093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channel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511296" y="1956816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scans the QR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the order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Authorises the payment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0488" y="1463040"/>
            <a:ext cx="262432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0488" y="1463040"/>
            <a:ext cx="2624328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26" name="Shape 23"/>
          <p:cNvSpPr/>
          <p:nvPr/>
        </p:nvSpPr>
        <p:spPr>
          <a:xfrm>
            <a:off x="6336792" y="1627632"/>
            <a:ext cx="274320" cy="274320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7" name="Text 24"/>
          <p:cNvSpPr/>
          <p:nvPr/>
        </p:nvSpPr>
        <p:spPr>
          <a:xfrm>
            <a:off x="6336792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02552" y="16093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55080" y="1956816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transfer is posted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are updated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is returned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034272" y="1463040"/>
            <a:ext cx="262432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34272" y="1463040"/>
            <a:ext cx="2624328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Shape 29"/>
          <p:cNvSpPr/>
          <p:nvPr/>
        </p:nvSpPr>
        <p:spPr>
          <a:xfrm>
            <a:off x="9180576" y="16276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0"/>
          <p:cNvSpPr/>
          <p:nvPr/>
        </p:nvSpPr>
        <p:spPr>
          <a:xfrm>
            <a:off x="9180576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546336" y="160934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198864" y="1956816"/>
            <a:ext cx="2295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marked paid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is notified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is shown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145536" y="2542032"/>
            <a:ext cx="182880" cy="0"/>
          </a:xfrm>
          <a:prstGeom prst="line">
            <a:avLst/>
          </a:prstGeom>
          <a:noFill/>
          <a:ln w="1524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989320" y="2542032"/>
            <a:ext cx="182880" cy="0"/>
          </a:xfrm>
          <a:prstGeom prst="line">
            <a:avLst/>
          </a:prstGeom>
          <a:noFill/>
          <a:ln w="1524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833104" y="2542032"/>
            <a:ext cx="182880" cy="0"/>
          </a:xfrm>
          <a:prstGeom prst="line">
            <a:avLst/>
          </a:prstGeom>
          <a:noFill/>
          <a:ln w="1524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502920" y="3968496"/>
            <a:ext cx="11183112" cy="1737360"/>
          </a:xfrm>
          <a:prstGeom prst="roundRect">
            <a:avLst>
              <a:gd name="adj" fmla="val 3158"/>
            </a:avLst>
          </a:prstGeom>
          <a:solidFill>
            <a:srgbClr val="F6F3F8"/>
          </a:solidFill>
          <a:ln w="12700">
            <a:solidFill>
              <a:srgbClr val="6B1F7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2376" y="44622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 channel never holds funds and never moves money. It generates a QR that references an order. Every debit, credit and balance stays inside the core banking system.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22376" y="5175504"/>
            <a:ext cx="2514600" cy="237744"/>
          </a:xfrm>
          <a:prstGeom prst="roundRect">
            <a:avLst>
              <a:gd name="adj" fmla="val 50000"/>
            </a:avLst>
          </a:prstGeom>
          <a:solidFill>
            <a:srgbClr val="C2007B"/>
          </a:solidFill>
          <a:ln/>
        </p:spPr>
      </p:sp>
      <p:sp>
        <p:nvSpPr>
          <p:cNvPr id="43" name="Text 40"/>
          <p:cNvSpPr/>
          <p:nvPr/>
        </p:nvSpPr>
        <p:spPr>
          <a:xfrm>
            <a:off x="722376" y="5175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is single-use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419856" y="5175504"/>
            <a:ext cx="2514600" cy="237744"/>
          </a:xfrm>
          <a:prstGeom prst="roundRect">
            <a:avLst>
              <a:gd name="adj" fmla="val 50000"/>
            </a:avLst>
          </a:prstGeom>
          <a:solidFill>
            <a:srgbClr val="6B1F7C"/>
          </a:solidFill>
          <a:ln/>
        </p:spPr>
      </p:sp>
      <p:sp>
        <p:nvSpPr>
          <p:cNvPr id="45" name="Text 42"/>
          <p:cNvSpPr/>
          <p:nvPr/>
        </p:nvSpPr>
        <p:spPr>
          <a:xfrm>
            <a:off x="3419856" y="5175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 — 300 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117336" y="5175504"/>
            <a:ext cx="2514600" cy="237744"/>
          </a:xfrm>
          <a:prstGeom prst="roundRect">
            <a:avLst>
              <a:gd name="adj" fmla="val 50000"/>
            </a:avLst>
          </a:prstGeom>
          <a:solidFill>
            <a:srgbClr val="3B6FD4"/>
          </a:solidFill>
          <a:ln/>
        </p:spPr>
      </p:sp>
      <p:sp>
        <p:nvSpPr>
          <p:cNvPr id="47" name="Text 44"/>
          <p:cNvSpPr/>
          <p:nvPr/>
        </p:nvSpPr>
        <p:spPr>
          <a:xfrm>
            <a:off x="6117336" y="5175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authenticates first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814816" y="5175504"/>
            <a:ext cx="2514600" cy="23774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9" name="Text 46"/>
          <p:cNvSpPr/>
          <p:nvPr/>
        </p:nvSpPr>
        <p:spPr>
          <a:xfrm>
            <a:off x="8814816" y="5175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happens in T24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67335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16459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generates the QR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at checkout, from the order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222199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8680" y="219456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 scans the QR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initiate the payment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277063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8680" y="274320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performs the posting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debit payer, credit merchant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331927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68680" y="329184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is single-use and time-bound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expires after 300 seconds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2920" y="386791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68680" y="384048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authenticates before authorising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02920" y="441655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68680" y="43891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is notified on confirmation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2920" y="4965192"/>
            <a:ext cx="256032" cy="256032"/>
          </a:xfrm>
          <a:prstGeom prst="ellipse">
            <a:avLst/>
          </a:prstGeom>
          <a:solidFill>
            <a:srgbClr val="6B1F7C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68680" y="493776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and payment are traceable end to end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680960" y="1554480"/>
            <a:ext cx="4005072" cy="3895344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C2007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80960" y="1554480"/>
            <a:ext cx="4005072" cy="54864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35" name="Text 32"/>
          <p:cNvSpPr/>
          <p:nvPr/>
        </p:nvSpPr>
        <p:spPr>
          <a:xfrm>
            <a:off x="7845552" y="1737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requirement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7882128" y="2231136"/>
            <a:ext cx="3602736" cy="676656"/>
          </a:xfrm>
          <a:prstGeom prst="roundRect">
            <a:avLst>
              <a:gd name="adj" fmla="val 8108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82128" y="2231136"/>
            <a:ext cx="3602736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QR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683496" y="2907792"/>
            <a:ext cx="0" cy="219456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882128" y="3127248"/>
            <a:ext cx="3602736" cy="676656"/>
          </a:xfrm>
          <a:prstGeom prst="roundRect">
            <a:avLst>
              <a:gd name="adj" fmla="val 8108"/>
            </a:avLst>
          </a:prstGeom>
          <a:solidFill>
            <a:srgbClr val="FDF2F8"/>
          </a:solidFill>
          <a:ln w="13970">
            <a:solidFill>
              <a:srgbClr val="C2007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82128" y="3127248"/>
            <a:ext cx="3602736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the QR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683496" y="3803904"/>
            <a:ext cx="0" cy="219456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882128" y="4023360"/>
            <a:ext cx="3602736" cy="731520"/>
          </a:xfrm>
          <a:prstGeom prst="roundRect">
            <a:avLst>
              <a:gd name="adj" fmla="val 75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82128" y="4023360"/>
            <a:ext cx="360273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— Core Banking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the business logic and posting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882128" y="488289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remains the system of record.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7360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 are no budget constraints on the solution.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third-party payment gateway can provide this capability. This design assumes an in-house build using the bank's own channels and core system.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is the QR generator only. It never holds funds and never moves money.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banking app is the scanning and authorisation channel only.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business logic, posting and balances remain in the core banking system.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core banking system is T24.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existing microservice and API management layer can be reused for the integration.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 are pilot scale. A production throughput target will be set separately.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8485632" y="1517904"/>
            <a:ext cx="3200400" cy="1965960"/>
          </a:xfrm>
          <a:prstGeom prst="roundRect">
            <a:avLst>
              <a:gd name="adj" fmla="val 2326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1517904"/>
            <a:ext cx="3200400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15" name="Text 11"/>
          <p:cNvSpPr/>
          <p:nvPr/>
        </p:nvSpPr>
        <p:spPr>
          <a:xfrm>
            <a:off x="8631936" y="166420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vs buy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650224" y="2011680"/>
            <a:ext cx="28712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gateway would shorten delivery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in-house build keeps the ledger and the customer journey inside the bank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485632" y="3639312"/>
            <a:ext cx="3200400" cy="1920240"/>
          </a:xfrm>
          <a:prstGeom prst="roundRect">
            <a:avLst>
              <a:gd name="adj" fmla="val 2381"/>
            </a:avLst>
          </a:prstGeom>
          <a:solidFill>
            <a:srgbClr val="F6F3F8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85632" y="3639312"/>
            <a:ext cx="3200400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9" name="Text 15"/>
          <p:cNvSpPr/>
          <p:nvPr/>
        </p:nvSpPr>
        <p:spPr>
          <a:xfrm>
            <a:off x="8631936" y="37856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650224" y="4133088"/>
            <a:ext cx="2871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present and capture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decides and records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settles outside the core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15727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6B1F7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5727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572768" y="157276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72768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Checkout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total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02736" y="157276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2736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QR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5 minutes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32704" y="157276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 w="13970">
            <a:solidFill>
              <a:srgbClr val="C200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32704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60920" y="1426464"/>
            <a:ext cx="1463040" cy="749808"/>
          </a:xfrm>
          <a:prstGeom prst="diamond">
            <a:avLst/>
          </a:prstGeom>
          <a:solidFill>
            <a:srgbClr val="E07C00"/>
          </a:solidFill>
          <a:ln/>
        </p:spPr>
      </p:sp>
      <p:sp>
        <p:nvSpPr>
          <p:cNvPr id="21" name="Shape 18"/>
          <p:cNvSpPr/>
          <p:nvPr/>
        </p:nvSpPr>
        <p:spPr>
          <a:xfrm>
            <a:off x="7402068" y="1467612"/>
            <a:ext cx="1380744" cy="667512"/>
          </a:xfrm>
          <a:prstGeom prst="diamond">
            <a:avLst/>
          </a:prstGeom>
          <a:solidFill>
            <a:srgbClr val="FFF6E5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0" y="1636410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valid?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325880" y="1801368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355848" y="1801368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85816" y="1801368"/>
            <a:ext cx="246888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050024" y="1801368"/>
            <a:ext cx="310896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823960" y="1801368"/>
            <a:ext cx="777240" cy="0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988552" y="1517904"/>
            <a:ext cx="402336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E07C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88552" y="151790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0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9601200" y="157276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01200" y="1572768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store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new QR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092440" y="2176272"/>
            <a:ext cx="0" cy="53035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156448" y="2304288"/>
            <a:ext cx="42062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56448" y="23042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7360920" y="2706624"/>
            <a:ext cx="1463040" cy="749808"/>
          </a:xfrm>
          <a:prstGeom prst="diamond">
            <a:avLst/>
          </a:prstGeom>
          <a:solidFill>
            <a:srgbClr val="2E7D32"/>
          </a:solidFill>
          <a:ln/>
        </p:spPr>
      </p:sp>
      <p:sp>
        <p:nvSpPr>
          <p:cNvPr id="36" name="Shape 33"/>
          <p:cNvSpPr/>
          <p:nvPr/>
        </p:nvSpPr>
        <p:spPr>
          <a:xfrm>
            <a:off x="7402068" y="2747772"/>
            <a:ext cx="1380744" cy="667512"/>
          </a:xfrm>
          <a:prstGeom prst="diamond">
            <a:avLst/>
          </a:prstGeom>
          <a:solidFill>
            <a:srgbClr val="EFF8F0"/>
          </a:solidFill>
          <a:ln/>
        </p:spPr>
      </p:sp>
      <p:sp>
        <p:nvSpPr>
          <p:cNvPr id="37" name="Text 34"/>
          <p:cNvSpPr/>
          <p:nvPr/>
        </p:nvSpPr>
        <p:spPr>
          <a:xfrm>
            <a:off x="7360920" y="2916570"/>
            <a:ext cx="146304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in?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846320" y="2852928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2852928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Details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total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 flipH="1">
            <a:off x="6766560" y="3035808"/>
            <a:ext cx="59436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58000" y="263347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58000" y="2633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9052560" y="285292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52560" y="2852928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823960" y="3081528"/>
            <a:ext cx="22860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8796528" y="259689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2E7D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796528" y="2596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680" dirty="0"/>
          </a:p>
        </p:txBody>
      </p:sp>
      <p:sp>
        <p:nvSpPr>
          <p:cNvPr id="48" name="Shape 45"/>
          <p:cNvSpPr/>
          <p:nvPr/>
        </p:nvSpPr>
        <p:spPr>
          <a:xfrm>
            <a:off x="9829800" y="3310128"/>
            <a:ext cx="0" cy="34747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none"/>
          </a:ln>
        </p:spPr>
      </p:sp>
      <p:sp>
        <p:nvSpPr>
          <p:cNvPr id="49" name="Shape 46"/>
          <p:cNvSpPr/>
          <p:nvPr/>
        </p:nvSpPr>
        <p:spPr>
          <a:xfrm flipH="1">
            <a:off x="6309360" y="3657600"/>
            <a:ext cx="3520440" cy="0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none"/>
          </a:ln>
        </p:spPr>
      </p:sp>
      <p:sp>
        <p:nvSpPr>
          <p:cNvPr id="50" name="Shape 47"/>
          <p:cNvSpPr/>
          <p:nvPr/>
        </p:nvSpPr>
        <p:spPr>
          <a:xfrm flipV="1">
            <a:off x="6309360" y="3310128"/>
            <a:ext cx="0" cy="34747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5486400" y="3310128"/>
            <a:ext cx="0" cy="566928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2" name="Shape 49"/>
          <p:cNvSpPr/>
          <p:nvPr/>
        </p:nvSpPr>
        <p:spPr>
          <a:xfrm flipH="1">
            <a:off x="4709160" y="3877056"/>
            <a:ext cx="77724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3" name="Shape 50"/>
          <p:cNvSpPr/>
          <p:nvPr/>
        </p:nvSpPr>
        <p:spPr>
          <a:xfrm>
            <a:off x="4709160" y="3877056"/>
            <a:ext cx="0" cy="292608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5486400" y="3877056"/>
            <a:ext cx="132588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none"/>
          </a:ln>
        </p:spPr>
      </p:sp>
      <p:sp>
        <p:nvSpPr>
          <p:cNvPr id="55" name="Shape 52"/>
          <p:cNvSpPr/>
          <p:nvPr/>
        </p:nvSpPr>
        <p:spPr>
          <a:xfrm>
            <a:off x="6812280" y="3877056"/>
            <a:ext cx="0" cy="292608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3931920" y="4169664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931920" y="4169664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709160" y="4590288"/>
            <a:ext cx="0" cy="237744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3931920" y="4828032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931920" y="4828032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to T24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4709160" y="5248656"/>
            <a:ext cx="0" cy="237744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3931920" y="5486400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931920" y="5486400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complete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035040" y="4169664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035040" y="4169664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6812280" y="4590288"/>
            <a:ext cx="0" cy="237744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6035040" y="4828032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035040" y="4828032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deducted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812280" y="5248656"/>
            <a:ext cx="0" cy="237744"/>
          </a:xfrm>
          <a:prstGeom prst="line">
            <a:avLst/>
          </a:prstGeom>
          <a:noFill/>
          <a:ln w="13970">
            <a:solidFill>
              <a:srgbClr val="E07C00"/>
            </a:solidFill>
            <a:prstDash val="solid"/>
            <a:headEnd type="none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6035040" y="5486400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FFF6E5"/>
          </a:solidFill>
          <a:ln w="13970">
            <a:solidFill>
              <a:srgbClr val="E07C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035040" y="5486400"/>
            <a:ext cx="1554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screen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8229600" y="4169664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229600" y="4169664"/>
            <a:ext cx="3456432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74" name="Text 71"/>
          <p:cNvSpPr/>
          <p:nvPr/>
        </p:nvSpPr>
        <p:spPr>
          <a:xfrm>
            <a:off x="8375904" y="431596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in the flow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8394192" y="466344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— 300 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use per order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checked before posting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verified in core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present and capture. The core banking system decides and records.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120700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517904"/>
            <a:ext cx="2795778" cy="365760"/>
          </a:xfrm>
          <a:prstGeom prst="rect">
            <a:avLst/>
          </a:prstGeom>
          <a:solidFill>
            <a:srgbClr val="3B6F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517904"/>
            <a:ext cx="2795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1883664"/>
            <a:ext cx="279577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8698" y="1517904"/>
            <a:ext cx="2795778" cy="365760"/>
          </a:xfrm>
          <a:prstGeom prst="rect">
            <a:avLst/>
          </a:prstGeom>
          <a:solidFill>
            <a:srgbClr val="C200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8698" y="1517904"/>
            <a:ext cx="2795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8698" y="1883664"/>
            <a:ext cx="2795778" cy="3968496"/>
          </a:xfrm>
          <a:prstGeom prst="rect">
            <a:avLst/>
          </a:prstGeom>
          <a:solidFill>
            <a:srgbClr val="FBFAFC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94476" y="1517904"/>
            <a:ext cx="2795778" cy="365760"/>
          </a:xfrm>
          <a:prstGeom prst="rect">
            <a:avLst/>
          </a:prstGeom>
          <a:solidFill>
            <a:srgbClr val="6B1F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94476" y="1517904"/>
            <a:ext cx="2795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 / APIM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94476" y="1883664"/>
            <a:ext cx="2795778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90254" y="1517904"/>
            <a:ext cx="2795778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90254" y="1517904"/>
            <a:ext cx="2795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— Core Banking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90254" y="1883664"/>
            <a:ext cx="2795778" cy="3968496"/>
          </a:xfrm>
          <a:prstGeom prst="rect">
            <a:avLst/>
          </a:prstGeom>
          <a:solidFill>
            <a:srgbClr val="FBFAFC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7809" y="2121408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809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order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2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+ total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17920" y="2121408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2121408"/>
            <a:ext cx="2084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Order API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043809" y="2350008"/>
            <a:ext cx="3174111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375904" y="2130552"/>
            <a:ext cx="457200" cy="438912"/>
          </a:xfrm>
          <a:prstGeom prst="can">
            <a:avLst/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47888" y="25786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DB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8302752" y="2350008"/>
            <a:ext cx="73152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217920" y="2798064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2798064"/>
            <a:ext cx="2084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QR payload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57809" y="2798064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7809" y="2798064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QR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 flipH="1">
            <a:off x="3043809" y="3026664"/>
            <a:ext cx="3174111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3553587" y="34747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 w="13970">
            <a:solidFill>
              <a:srgbClr val="C2007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53587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217920" y="347472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0" y="3474720"/>
            <a:ext cx="2084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Order API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839587" y="3630168"/>
            <a:ext cx="378333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 flipH="1">
            <a:off x="5839587" y="3794760"/>
            <a:ext cx="378333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3553587" y="415137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 w="13970">
            <a:solidFill>
              <a:srgbClr val="C2007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53587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payment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17920" y="4151376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0" y="4151376"/>
            <a:ext cx="2084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API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9145143" y="415137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45143" y="4151376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Transfer posting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payer · credit merchant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39587" y="4379976"/>
            <a:ext cx="378333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8302752" y="4379976"/>
            <a:ext cx="842391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9145143" y="4937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5143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reference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217920" y="4937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3EEFB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17920" y="4937760"/>
            <a:ext cx="2084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order 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57809" y="49377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57809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marked PAID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 flipH="1">
            <a:off x="8302752" y="5166360"/>
            <a:ext cx="842391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9" name="Shape 56"/>
          <p:cNvSpPr/>
          <p:nvPr/>
        </p:nvSpPr>
        <p:spPr>
          <a:xfrm flipH="1">
            <a:off x="3043809" y="5166360"/>
            <a:ext cx="3174111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dash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interfaces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reach the core banking system through API management and a site-to-site link.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120700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572768"/>
            <a:ext cx="11183112" cy="1975104"/>
          </a:xfrm>
          <a:prstGeom prst="roundRect">
            <a:avLst>
              <a:gd name="adj" fmla="val 2778"/>
            </a:avLst>
          </a:prstGeom>
          <a:solidFill>
            <a:srgbClr val="F5F9FF"/>
          </a:solidFill>
          <a:ln w="15240">
            <a:solidFill>
              <a:srgbClr val="3B6FD4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58368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Cloud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32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6B6B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377440" y="2276856"/>
            <a:ext cx="164592" cy="0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5420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420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traffic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06240" y="2276856"/>
            <a:ext cx="164592" cy="0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3708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708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APIM, token check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2276856"/>
            <a:ext cx="164592" cy="0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996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863840" y="2276856"/>
            <a:ext cx="164592" cy="0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0284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284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692640" y="2276856"/>
            <a:ext cx="164592" cy="0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857232" y="1975104"/>
            <a:ext cx="166420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57232" y="1975104"/>
            <a:ext cx="166420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3232" y="27432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in transit  ·  no workload endpoint published directly to the internet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577840" y="3547872"/>
            <a:ext cx="0" cy="384048"/>
          </a:xfrm>
          <a:prstGeom prst="line">
            <a:avLst/>
          </a:prstGeom>
          <a:noFill/>
          <a:ln w="20320">
            <a:solidFill>
              <a:srgbClr val="6B1F7C"/>
            </a:solidFill>
            <a:prstDash val="solid"/>
            <a:headEnd type="triangle"/>
            <a:tailEnd type="triangle"/>
          </a:ln>
        </p:spPr>
      </p:sp>
      <p:sp>
        <p:nvSpPr>
          <p:cNvPr id="34" name="Text 31"/>
          <p:cNvSpPr/>
          <p:nvPr/>
        </p:nvSpPr>
        <p:spPr>
          <a:xfrm>
            <a:off x="5742432" y="3602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Site-to-Site VPN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02920" y="4005072"/>
            <a:ext cx="11183112" cy="1828800"/>
          </a:xfrm>
          <a:prstGeom prst="roundRect">
            <a:avLst>
              <a:gd name="adj" fmla="val 3000"/>
            </a:avLst>
          </a:prstGeom>
          <a:solidFill>
            <a:srgbClr val="F7F5FA"/>
          </a:solidFill>
          <a:ln w="15240">
            <a:solidFill>
              <a:srgbClr val="6B1F7C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658368" y="4078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Data Centre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234440" y="440740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34440" y="4407408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firewall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11880" y="4727448"/>
            <a:ext cx="22860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840480" y="440740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4407408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distributes calls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17920" y="4727448"/>
            <a:ext cx="22860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446520" y="440740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46520" y="4407408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JBoss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server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823960" y="4727448"/>
            <a:ext cx="228600" cy="0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9052560" y="4407408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52560" y="4407408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234440" y="517550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remains the system of record for accounts, balances and postings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and remote access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8961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connectivity between the Azure workload and the on-premises core.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120700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27432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6B6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 browser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51760" y="1572768"/>
            <a:ext cx="4572000" cy="4160520"/>
          </a:xfrm>
          <a:prstGeom prst="roundRect">
            <a:avLst>
              <a:gd name="adj" fmla="val 1319"/>
            </a:avLst>
          </a:prstGeom>
          <a:solidFill>
            <a:srgbClr val="F5F9FF"/>
          </a:solidFill>
          <a:ln w="15240">
            <a:solidFill>
              <a:srgbClr val="3B6FD4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2798064" y="16459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— spoke virtual network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871216" y="2011680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71216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entry point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56048" y="2560320"/>
            <a:ext cx="0" cy="164592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871216" y="2724912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71216" y="2724912"/>
            <a:ext cx="4160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Management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only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56048" y="3273552"/>
            <a:ext cx="0" cy="164592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871216" y="3438144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71216" y="3438144"/>
            <a:ext cx="4160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private cluster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API server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56048" y="3986784"/>
            <a:ext cx="0" cy="164592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871216" y="4151376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71216" y="4151376"/>
            <a:ext cx="4160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endpoints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and secrets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56048" y="4700016"/>
            <a:ext cx="0" cy="164592"/>
          </a:xfrm>
          <a:prstGeom prst="line">
            <a:avLst/>
          </a:prstGeom>
          <a:noFill/>
          <a:ln w="13970">
            <a:solidFill>
              <a:srgbClr val="3B6FD4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871216" y="4864608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71216" y="4864608"/>
            <a:ext cx="4160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gateway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data centre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212848" y="3108960"/>
            <a:ext cx="329184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 flipV="1">
            <a:off x="2542032" y="2286000"/>
            <a:ext cx="0" cy="82296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2542032" y="2286000"/>
            <a:ext cx="329184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680960" y="1572768"/>
            <a:ext cx="4005072" cy="4160520"/>
          </a:xfrm>
          <a:prstGeom prst="roundRect">
            <a:avLst>
              <a:gd name="adj" fmla="val 1370"/>
            </a:avLst>
          </a:prstGeom>
          <a:solidFill>
            <a:srgbClr val="F7F5FA"/>
          </a:solidFill>
          <a:ln w="15240">
            <a:solidFill>
              <a:srgbClr val="6B1F7C"/>
            </a:solidFill>
            <a:prstDash val="dash"/>
          </a:ln>
        </p:spPr>
      </p:sp>
      <p:sp>
        <p:nvSpPr>
          <p:cNvPr id="35" name="Text 32"/>
          <p:cNvSpPr/>
          <p:nvPr/>
        </p:nvSpPr>
        <p:spPr>
          <a:xfrm>
            <a:off x="7827264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data centre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882128" y="2194560"/>
            <a:ext cx="360273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82128" y="2194560"/>
            <a:ext cx="360273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gateway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terminates the tunnel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9683496" y="2798064"/>
            <a:ext cx="0" cy="219456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882128" y="3017520"/>
            <a:ext cx="360273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82128" y="3017520"/>
            <a:ext cx="360273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the traffic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9683496" y="3621024"/>
            <a:ext cx="0" cy="219456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882128" y="3840480"/>
            <a:ext cx="360273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82128" y="3840480"/>
            <a:ext cx="360273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application servers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JBoss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9683496" y="4443984"/>
            <a:ext cx="0" cy="219456"/>
          </a:xfrm>
          <a:prstGeom prst="line">
            <a:avLst/>
          </a:prstGeom>
          <a:noFill/>
          <a:ln w="13970">
            <a:solidFill>
              <a:srgbClr val="6B1F7C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7882128" y="4663440"/>
            <a:ext cx="360273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663440"/>
            <a:ext cx="3602736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 core banking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223760" y="4480560"/>
            <a:ext cx="457200" cy="0"/>
          </a:xfrm>
          <a:prstGeom prst="line">
            <a:avLst/>
          </a:prstGeom>
          <a:noFill/>
          <a:ln w="22860">
            <a:solidFill>
              <a:srgbClr val="6B1F7C"/>
            </a:solidFill>
            <a:prstDash val="solid"/>
            <a:headEnd type="triangle"/>
            <a:tailEnd type="triangle"/>
          </a:ln>
        </p:spPr>
      </p:sp>
      <p:sp>
        <p:nvSpPr>
          <p:cNvPr id="48" name="Text 45"/>
          <p:cNvSpPr/>
          <p:nvPr/>
        </p:nvSpPr>
        <p:spPr>
          <a:xfrm>
            <a:off x="7114032" y="41696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S2S VPN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02920" y="588873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tunnels are used so the link to the core is not a single point of failure.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catalogue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" y="1719072"/>
            <a:ext cx="3602736" cy="2630147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14" name="Image 1" descr="/projects/sandbox/deckbuild/shots_trimmed/01-ecom-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3566160" cy="25935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5384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presented at checkout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97096" y="1719072"/>
            <a:ext cx="3602736" cy="3692117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17" name="Image 2" descr="/projects/sandbox/deckbuild/shots_trimmed/03-ecom-checkout-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737360"/>
            <a:ext cx="3566160" cy="36555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27848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Authorising in the bank app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09560" y="1719072"/>
            <a:ext cx="3602736" cy="255555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pic>
        <p:nvPicPr>
          <p:cNvPr id="20" name="Image 3" descr="/projects/sandbox/deckbuild/shots_trimmed/05-bank-pay-fo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1737360"/>
            <a:ext cx="3566160" cy="2518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sequence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148132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6B6B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1481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792224" y="186537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2980944" y="148132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EEF4FF"/>
          </a:solidFill>
          <a:ln w="15240">
            <a:solidFill>
              <a:srgbClr val="3B6F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80944" y="1481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13632" y="186537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102352" y="148132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DF2F8"/>
          </a:solidFill>
          <a:ln w="15240">
            <a:solidFill>
              <a:srgbClr val="C200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481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App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186537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7223760" y="148132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F3EEFB"/>
          </a:solidFill>
          <a:ln w="15240">
            <a:solidFill>
              <a:srgbClr val="6B1F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0" y="1481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156448" y="186537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9345168" y="1481328"/>
            <a:ext cx="1865376" cy="384048"/>
          </a:xfrm>
          <a:prstGeom prst="roundRect">
            <a:avLst>
              <a:gd name="adj" fmla="val 11905"/>
            </a:avLst>
          </a:prstGeom>
          <a:solidFill>
            <a:srgbClr val="EFF8F0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45168" y="14813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277856" y="1865376"/>
            <a:ext cx="0" cy="3749040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792224" y="2286000"/>
            <a:ext cx="2121408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70992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95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 flipH="1">
            <a:off x="1792224" y="2651760"/>
            <a:ext cx="2121408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1709928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displayed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792224" y="3017520"/>
            <a:ext cx="4242816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1792224" y="2743200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95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log in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035040" y="3383280"/>
            <a:ext cx="2121408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4" name="Text 31"/>
          <p:cNvSpPr/>
          <p:nvPr/>
        </p:nvSpPr>
        <p:spPr>
          <a:xfrm>
            <a:off x="5952744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ctr" indent="0" marL="0">
              <a:buNone/>
            </a:pPr>
            <a:r>
              <a:rPr lang="en-US" sz="95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order details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 flipH="1">
            <a:off x="6035040" y="3749040"/>
            <a:ext cx="2121408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5952744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and total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35040" y="4114800"/>
            <a:ext cx="2121408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5952744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algn="ctr" indent="0" marL="0">
              <a:buNone/>
            </a:pPr>
            <a:r>
              <a:rPr lang="en-US" sz="95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payment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156448" y="4480560"/>
            <a:ext cx="2121408" cy="0"/>
          </a:xfrm>
          <a:prstGeom prst="line">
            <a:avLst/>
          </a:prstGeom>
          <a:noFill/>
          <a:ln w="2159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8074152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</a:t>
            </a:r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funds transfer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 flipH="1">
            <a:off x="8156448" y="4846320"/>
            <a:ext cx="2121408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8074152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</a:t>
            </a:r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reference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 flipH="1">
            <a:off x="3913632" y="5212080"/>
            <a:ext cx="4242816" cy="0"/>
          </a:xfrm>
          <a:prstGeom prst="line">
            <a:avLst/>
          </a:prstGeom>
          <a:noFill/>
          <a:ln w="14605">
            <a:solidFill>
              <a:srgbClr val="4E1259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3913632" y="4937760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</a:t>
            </a:r>
            <a:pPr algn="ctr" indent="0" marL="0">
              <a:buNone/>
            </a:pPr>
            <a:r>
              <a:rPr lang="en-US" sz="950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marked paid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 flipH="1">
            <a:off x="1792224" y="5577840"/>
            <a:ext cx="4242816" cy="0"/>
          </a:xfrm>
          <a:prstGeom prst="line">
            <a:avLst/>
          </a:prstGeom>
          <a:noFill/>
          <a:ln w="1460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46" name="Text 43"/>
          <p:cNvSpPr/>
          <p:nvPr/>
        </p:nvSpPr>
        <p:spPr>
          <a:xfrm>
            <a:off x="1792224" y="5303520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31520" y="57790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is the only step that moves money, and it happens inside T24.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 OF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517904"/>
            <a:ext cx="74980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240">
            <a:solidFill>
              <a:srgbClr val="3B6F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1517904"/>
            <a:ext cx="64008" cy="896112"/>
          </a:xfrm>
          <a:prstGeom prst="rect">
            <a:avLst/>
          </a:prstGeom>
          <a:solidFill>
            <a:srgbClr val="3B6FD4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" y="16276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22376" y="193852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 replicas spread across availability zones, behind a health-probed ingress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2542032"/>
            <a:ext cx="74980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240">
            <a:solidFill>
              <a:srgbClr val="6B1F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2542032"/>
            <a:ext cx="64008" cy="89611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" y="26517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22376" y="296265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Zone-redundant managed database with automated backup and point-in-time restore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3566160"/>
            <a:ext cx="74980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240">
            <a:solidFill>
              <a:srgbClr val="C2007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3566160"/>
            <a:ext cx="64008" cy="89611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" y="36758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22376" y="398678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 gated on readiness probes, so a release does not interrupt service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2920" y="4590288"/>
            <a:ext cx="74980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" y="4590288"/>
            <a:ext cx="64008" cy="8961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" y="470001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link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2376" y="501091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site-to-site tunnels between Azure and the data centre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321040" y="1517904"/>
            <a:ext cx="3364992" cy="3968496"/>
          </a:xfrm>
          <a:prstGeom prst="roundRect">
            <a:avLst>
              <a:gd name="adj" fmla="val 1630"/>
            </a:avLst>
          </a:prstGeom>
          <a:solidFill>
            <a:srgbClr val="F6F3F8"/>
          </a:solidFill>
          <a:ln w="15240">
            <a:solidFill>
              <a:srgbClr val="6B1F7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0392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targets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503920" y="22128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8503920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availability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503920" y="32186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1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8503920" y="36758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point objective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503920" y="42245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8503920" y="46817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 objective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2920" y="563270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objectives to be confirmed and signed off before build.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 OF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on Kubernetes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627632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627632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entry, WAF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70048" y="1627632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0048" y="1627632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73168" y="1627632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EEF4FF"/>
          </a:solidFill>
          <a:ln w="13970">
            <a:solidFill>
              <a:srgbClr val="3B6F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3168" y="1627632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scales 2 → 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42048" y="1627632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3970">
            <a:solidFill>
              <a:srgbClr val="6B1F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1627632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DB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528048" y="1627632"/>
            <a:ext cx="2157984" cy="731520"/>
          </a:xfrm>
          <a:prstGeom prst="roundRect">
            <a:avLst>
              <a:gd name="adj" fmla="val 7500"/>
            </a:avLst>
          </a:prstGeom>
          <a:solidFill>
            <a:srgbClr val="EFF8F0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28048" y="1627632"/>
            <a:ext cx="215798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T24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S2S link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304288" y="1993392"/>
            <a:ext cx="365760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407408" y="1993392"/>
            <a:ext cx="365760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876288" y="1993392"/>
            <a:ext cx="365760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162288" y="1993392"/>
            <a:ext cx="365760" cy="0"/>
          </a:xfrm>
          <a:prstGeom prst="line">
            <a:avLst/>
          </a:prstGeom>
          <a:noFill/>
          <a:ln w="13970">
            <a:solidFill>
              <a:srgbClr val="6B6B6B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02920" y="2743200"/>
            <a:ext cx="3611880" cy="2670048"/>
          </a:xfrm>
          <a:prstGeom prst="roundRect">
            <a:avLst>
              <a:gd name="adj" fmla="val 1712"/>
            </a:avLst>
          </a:prstGeom>
          <a:solidFill>
            <a:srgbClr val="FDF2F8"/>
          </a:solidFill>
          <a:ln w="14605">
            <a:solidFill>
              <a:srgbClr val="C2007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2743200"/>
            <a:ext cx="3611880" cy="50292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" y="288950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scales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67512" y="3236976"/>
            <a:ext cx="32826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 on CPU and requests per second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autoscaler adds nodes when pods cannot be placed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are stateless, so any replica can serve any request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88536" y="2743200"/>
            <a:ext cx="3611880" cy="2670048"/>
          </a:xfrm>
          <a:prstGeom prst="roundRect">
            <a:avLst>
              <a:gd name="adj" fmla="val 1712"/>
            </a:avLst>
          </a:prstGeom>
          <a:solidFill>
            <a:srgbClr val="F6F3F8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88536" y="2743200"/>
            <a:ext cx="3611880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2" name="Text 29"/>
          <p:cNvSpPr/>
          <p:nvPr/>
        </p:nvSpPr>
        <p:spPr>
          <a:xfrm>
            <a:off x="4434840" y="288950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that possible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453128" y="3236976"/>
            <a:ext cx="32826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held outside the pod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supplied by environment and secret store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 in front of the database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74152" y="2743200"/>
            <a:ext cx="3611880" cy="2670048"/>
          </a:xfrm>
          <a:prstGeom prst="roundRect">
            <a:avLst>
              <a:gd name="adj" fmla="val 1712"/>
            </a:avLst>
          </a:prstGeom>
          <a:solidFill>
            <a:srgbClr val="F4FBF5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74152" y="2743200"/>
            <a:ext cx="3611880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8220456" y="2889504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place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8238744" y="3236976"/>
            <a:ext cx="328269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Service and Secret manifests written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and readiness probes defined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endpoints exposed by both services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 OF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517904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6B1F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1517904"/>
            <a:ext cx="3611880" cy="64008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700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2103120"/>
            <a:ext cx="3246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from every container, shipped to a Log Analytics workspace with a defined retention period.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88536" y="1517904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C200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8536" y="1517904"/>
            <a:ext cx="3611880" cy="6400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18" name="Text 15"/>
          <p:cNvSpPr/>
          <p:nvPr/>
        </p:nvSpPr>
        <p:spPr>
          <a:xfrm>
            <a:off x="4471416" y="1700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71416" y="2103120"/>
            <a:ext cx="3246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collects saturation, latency and error rate, surfaced on a workload dashboard.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74152" y="1517904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3B6F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74152" y="1517904"/>
            <a:ext cx="3611880" cy="64008"/>
          </a:xfrm>
          <a:prstGeom prst="rect">
            <a:avLst/>
          </a:prstGeom>
          <a:solidFill>
            <a:srgbClr val="3B6FD4"/>
          </a:solidFill>
          <a:ln/>
        </p:spPr>
      </p:sp>
      <p:sp>
        <p:nvSpPr>
          <p:cNvPr id="22" name="Text 19"/>
          <p:cNvSpPr/>
          <p:nvPr/>
        </p:nvSpPr>
        <p:spPr>
          <a:xfrm>
            <a:off x="8257032" y="17007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57032" y="2103120"/>
            <a:ext cx="32461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with a correlation identifier carried across the channels, the microservice and the core.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2920" y="3785616"/>
            <a:ext cx="5486400" cy="1920240"/>
          </a:xfrm>
          <a:prstGeom prst="roundRect">
            <a:avLst>
              <a:gd name="adj" fmla="val 2381"/>
            </a:avLst>
          </a:prstGeom>
          <a:solidFill>
            <a:srgbClr val="F4FBF5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" y="3785616"/>
            <a:ext cx="5486400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" y="3931920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and self-healing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7512" y="4279392"/>
            <a:ext cx="5157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and readiness probes enforced by the platform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Unhealthy pods removed from rotation automatically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routed to an on-call rota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08776" y="3785616"/>
            <a:ext cx="5477256" cy="1920240"/>
          </a:xfrm>
          <a:prstGeom prst="roundRect">
            <a:avLst>
              <a:gd name="adj" fmla="val 2381"/>
            </a:avLst>
          </a:prstGeom>
          <a:solidFill>
            <a:srgbClr val="F6F3F8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85616"/>
            <a:ext cx="5477256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0" name="Text 27"/>
          <p:cNvSpPr/>
          <p:nvPr/>
        </p:nvSpPr>
        <p:spPr>
          <a:xfrm>
            <a:off x="6355080" y="393192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answer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73368" y="4279392"/>
            <a:ext cx="5148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specific payment reached, and how long each hop took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an error came from the channel, the microservice or the core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service met its availability target this month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 OF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BSP and regulatory alignment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77640"/>
                <a:gridCol w="53766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design responds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F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QR code standard — QR Ph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EMVCo-format payload with a signed order reference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payment acceptance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onboarding, settlement and dispute handling in the 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MORB Appendix 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security risk management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in transit, keys in Key Vault and HSM, immutable audit trail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1140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outsourcing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 exit strategy, portable stack, continuity plan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 10173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privacy and residency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In-country archive copy; cross-border basis to be documented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 9160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Anti-money laundering reporting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31F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Covered and suspicious transaction reporting from the 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8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02920" y="4626864"/>
            <a:ext cx="5486400" cy="1152144"/>
          </a:xfrm>
          <a:prstGeom prst="roundRect">
            <a:avLst>
              <a:gd name="adj" fmla="val 3968"/>
            </a:avLst>
          </a:prstGeom>
          <a:solidFill>
            <a:srgbClr val="F6F3F8"/>
          </a:solidFill>
          <a:ln w="14605">
            <a:solidFill>
              <a:srgbClr val="6B1F7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4626864"/>
            <a:ext cx="5486400" cy="50292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15" name="Text 11"/>
          <p:cNvSpPr/>
          <p:nvPr/>
        </p:nvSpPr>
        <p:spPr>
          <a:xfrm>
            <a:off x="649224" y="4773168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with Compliance and Legal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7512" y="512064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cross-border transfer basis and the licensing position are decided outside engineering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08776" y="4626864"/>
            <a:ext cx="5477256" cy="1152144"/>
          </a:xfrm>
          <a:prstGeom prst="roundRect">
            <a:avLst>
              <a:gd name="adj" fmla="val 3968"/>
            </a:avLst>
          </a:prstGeom>
          <a:solidFill>
            <a:srgbClr val="F4FBF5"/>
          </a:solidFill>
          <a:ln w="14605">
            <a:solidFill>
              <a:srgbClr val="2E7D3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08776" y="4626864"/>
            <a:ext cx="5477256" cy="502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4773168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position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373368" y="5120640"/>
            <a:ext cx="5148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banking system remains the record for every posting and balance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" y="588873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mapping for discussion. Citations to be confirmed with Compliance and Legal.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41148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45936"/>
            <a:ext cx="2286000" cy="41148"/>
          </a:xfrm>
          <a:prstGeom prst="rect">
            <a:avLst/>
          </a:prstGeom>
          <a:solidFill>
            <a:srgbClr val="C2007B"/>
          </a:solidFill>
          <a:ln/>
        </p:spPr>
      </p:sp>
      <p:pic>
        <p:nvPicPr>
          <p:cNvPr id="5" name="Image 0" descr="/projects/sandbox/deckbuild/assets/eastwes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46520"/>
            <a:ext cx="1108314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6419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1594592" y="6455664"/>
            <a:ext cx="292608" cy="292608"/>
          </a:xfrm>
          <a:prstGeom prst="ellipse">
            <a:avLst/>
          </a:prstGeom>
          <a:solidFill>
            <a:srgbClr val="C4D82E"/>
          </a:solidFill>
          <a:ln/>
        </p:spPr>
      </p:sp>
      <p:sp>
        <p:nvSpPr>
          <p:cNvPr id="8" name="Text 5"/>
          <p:cNvSpPr/>
          <p:nvPr/>
        </p:nvSpPr>
        <p:spPr>
          <a:xfrm>
            <a:off x="11594592" y="645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37744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C20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75488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and recommendations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932688"/>
            <a:ext cx="566928" cy="45720"/>
          </a:xfrm>
          <a:prstGeom prst="rect">
            <a:avLst/>
          </a:prstGeom>
          <a:solidFill>
            <a:srgbClr val="C4D82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1481328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C2007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1481328"/>
            <a:ext cx="3611880" cy="64008"/>
          </a:xfrm>
          <a:prstGeom prst="rect">
            <a:avLst/>
          </a:prstGeom>
          <a:solidFill>
            <a:srgbClr val="C2007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6642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376" y="22311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2376" y="266090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" y="309067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352044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2376" y="39502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" y="437997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2376" y="480974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2376" y="52395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88536" y="1481328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6B1F7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88536" y="1481328"/>
            <a:ext cx="3611880" cy="64008"/>
          </a:xfrm>
          <a:prstGeom prst="rect">
            <a:avLst/>
          </a:prstGeom>
          <a:solidFill>
            <a:srgbClr val="6B1F7C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16642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07992" y="22311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07992" y="266090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07992" y="309067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07992" y="352044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07992" y="39502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07992" y="437997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07992" y="480974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7992" y="52395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74152" y="1481328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2E7D3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74152" y="1481328"/>
            <a:ext cx="361188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8257032" y="16642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1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 ·  owner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293608" y="223113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93608" y="266090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93608" y="309067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293608" y="3520440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93608" y="3950208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93608" y="4379976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93608" y="4809744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93608" y="5239512"/>
            <a:ext cx="3172968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EastWest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Payment Platform — Solution Design</dc:title>
  <dc:subject>PptxGenJS Presentation</dc:subject>
  <dc:creator>TechStart</dc:creator>
  <cp:lastModifiedBy>TechStart</cp:lastModifiedBy>
  <cp:revision>1</cp:revision>
  <dcterms:created xsi:type="dcterms:W3CDTF">2026-08-19T03:14:29Z</dcterms:created>
  <dcterms:modified xsi:type="dcterms:W3CDTF">2026-08-19T03:14:29Z</dcterms:modified>
</cp:coreProperties>
</file>